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508760"/>
            <a:ext cx="1078992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Recruitment &amp; Hiring Funnel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44255"/>
            <a:ext cx="697639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Aptos"/>
              </a:rPr>
              <a:t>Where candidates drop off • Hiring efficiency • Cost • Recommended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856410"/>
            <a:ext cx="259038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dirty="0">
                <a:solidFill>
                  <a:srgbClr val="CDDEF0"/>
                </a:solidFill>
                <a:latin typeface="Aptos"/>
              </a:rPr>
              <a:t>Dataset: 10,000 recruitment r</a:t>
            </a:r>
            <a:r>
              <a:rPr lang="en-GB" sz="1200" b="0" dirty="0">
                <a:solidFill>
                  <a:srgbClr val="CDDEF0"/>
                </a:solidFill>
                <a:latin typeface="Aptos"/>
              </a:rPr>
              <a:t>e</a:t>
            </a:r>
            <a:r>
              <a:rPr sz="1200" b="0" dirty="0">
                <a:solidFill>
                  <a:srgbClr val="CDDEF0"/>
                </a:solidFill>
                <a:latin typeface="Aptos"/>
              </a:rPr>
              <a:t>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735628"/>
            <a:ext cx="2434193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GB" sz="2400" dirty="0">
                <a:solidFill>
                  <a:srgbClr val="CDDEF0"/>
                </a:solidFill>
                <a:latin typeface="Aptos"/>
              </a:rPr>
              <a:t>By Barbara Dixon</a:t>
            </a:r>
            <a:endParaRPr sz="2400" b="0" dirty="0">
              <a:solidFill>
                <a:srgbClr val="CDDEF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82A43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01075"/>
            <a:ext cx="520084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 dirty="0">
                <a:solidFill>
                  <a:srgbClr val="696969"/>
                </a:solidFill>
                <a:latin typeface="Aptos"/>
              </a:rPr>
              <a:t>The recruitment funnel converts 10,000 applicants into 414 hires</a:t>
            </a:r>
            <a:r>
              <a:rPr sz="11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54864" cy="9601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252728"/>
            <a:ext cx="1783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ptos"/>
              </a:rPr>
              <a:t>Applicants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508760"/>
            <a:ext cx="1783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182A43"/>
                </a:solidFill>
                <a:latin typeface="Aptos"/>
              </a:rPr>
              <a:t>10,000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143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97480" y="1143000"/>
            <a:ext cx="54864" cy="9601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1252728"/>
            <a:ext cx="1783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ptos"/>
              </a:rPr>
              <a:t>Hires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1508760"/>
            <a:ext cx="1783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182A43"/>
                </a:solidFill>
                <a:latin typeface="Aptos"/>
              </a:rPr>
              <a:t>414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143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92040" y="1143000"/>
            <a:ext cx="54864" cy="9601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56631" y="1252728"/>
            <a:ext cx="1783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ptos"/>
              </a:rPr>
              <a:t>Overall hire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1" y="1508760"/>
            <a:ext cx="1783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182A43"/>
                </a:solidFill>
                <a:latin typeface="Aptos"/>
              </a:rPr>
              <a:t>4.14%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143000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086600" y="1143000"/>
            <a:ext cx="54864" cy="9601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51192" y="1252728"/>
            <a:ext cx="1783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ptos"/>
              </a:rPr>
              <a:t>Avg. time-to-hire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1508760"/>
            <a:ext cx="178308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182A43"/>
                </a:solidFill>
                <a:latin typeface="Aptos"/>
              </a:rPr>
              <a:t>33.08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14300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81160" y="1143000"/>
            <a:ext cx="54864" cy="9601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45752" y="1252728"/>
            <a:ext cx="21488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96969"/>
                </a:solidFill>
                <a:latin typeface="Aptos"/>
              </a:rPr>
              <a:t>Avg. cost per hire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1508760"/>
            <a:ext cx="21488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182A43"/>
                </a:solidFill>
                <a:latin typeface="Aptos"/>
              </a:rPr>
              <a:t>€3,732.49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423160"/>
            <a:ext cx="54864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" y="2509915"/>
            <a:ext cx="221336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82A43"/>
                </a:solidFill>
                <a:latin typeface="Aptos"/>
              </a:rPr>
              <a:t>What the data tells 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2926080"/>
            <a:ext cx="5315713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1600" dirty="0"/>
              <a:t>• The largest funnel loss occurs before screening: 72.30% of applicants do</a:t>
            </a:r>
            <a:r>
              <a:rPr lang="en-GB" sz="1600" dirty="0"/>
              <a:t> </a:t>
            </a:r>
            <a:r>
              <a:rPr sz="1600" dirty="0"/>
              <a:t> not progress.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1600" dirty="0"/>
              <a:t>• Employee Referral is the strongest source by hire rate at 5.94%.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1600" dirty="0"/>
              <a:t>• Operations has the highest average cost per hire at €4,082.12.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1600" dirty="0"/>
              <a:t>• Michael Wagner has the strongest overall recruiter performance.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423160"/>
            <a:ext cx="548640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2509915"/>
            <a:ext cx="224747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dirty="0">
                <a:solidFill>
                  <a:srgbClr val="182A43"/>
                </a:solidFill>
                <a:latin typeface="Aptos"/>
              </a:rPr>
              <a:t>Stakeholder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926080"/>
            <a:ext cx="5330952" cy="242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1600" dirty="0"/>
              <a:t>• The biggest opportunity is not simply generating more </a:t>
            </a:r>
            <a:endParaRPr lang="en-GB" sz="1600" dirty="0"/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lang="en-GB" sz="1600" dirty="0"/>
              <a:t>     </a:t>
            </a:r>
            <a:r>
              <a:rPr sz="1600" dirty="0"/>
              <a:t>applicants.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1600" dirty="0"/>
              <a:t>• The priority is improving early-stage screening and </a:t>
            </a:r>
            <a:r>
              <a:rPr lang="en-GB" sz="1600" dirty="0"/>
              <a:t>               </a:t>
            </a:r>
            <a:r>
              <a:rPr sz="1600" dirty="0"/>
              <a:t>conversion.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1600" dirty="0"/>
              <a:t>• Cost and recruiter practices should be managed using performance</a:t>
            </a:r>
            <a:r>
              <a:rPr lang="en-GB" sz="1600" dirty="0"/>
              <a:t> </a:t>
            </a:r>
            <a:r>
              <a:rPr sz="1600" dirty="0"/>
              <a:t>metrics, not volume alone.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1600" dirty="0"/>
              <a:t>• The recommendations focus on practical actions HR can test and monitor.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Recruitment &amp; Hiring Funnel Analytics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82A43"/>
                </a:solidFill>
                <a:latin typeface="Aptos"/>
              </a:rPr>
              <a:t>1. The Main Bottleneck Is Initial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696969"/>
                </a:solidFill>
                <a:latin typeface="Aptos"/>
              </a:rPr>
              <a:t>Candidate volume falls sharply before screening.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508760"/>
            <a:ext cx="3886200" cy="1965960"/>
          </a:xfrm>
          <a:prstGeom prst="roundRect">
            <a:avLst/>
          </a:prstGeom>
          <a:solidFill>
            <a:srgbClr val="E1F0FC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1783080"/>
            <a:ext cx="333756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182A43"/>
                </a:solidFill>
                <a:latin typeface="Aptos"/>
              </a:rPr>
              <a:t>72.30%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6235" y="2322463"/>
            <a:ext cx="226421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dirty="0">
                <a:solidFill>
                  <a:srgbClr val="2D2D2D"/>
                </a:solidFill>
                <a:latin typeface="Aptos"/>
              </a:rPr>
              <a:t>largest funnel drop-off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2758057"/>
            <a:ext cx="3595348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0" dirty="0">
                <a:solidFill>
                  <a:srgbClr val="002060"/>
                </a:solidFill>
                <a:latin typeface="Aptos"/>
              </a:rPr>
              <a:t>7,230 of 10,000 applicants do not reach screening</a:t>
            </a:r>
            <a:r>
              <a:rPr sz="1200" b="0" dirty="0">
                <a:solidFill>
                  <a:srgbClr val="002060"/>
                </a:solidFill>
                <a:latin typeface="Aptos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886199"/>
            <a:ext cx="3886200" cy="262145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99831" y="3942177"/>
            <a:ext cx="276069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82A43"/>
                </a:solidFill>
                <a:latin typeface="Aptos"/>
              </a:rPr>
              <a:t>Recommended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9" y="4389120"/>
            <a:ext cx="3666744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Standardize screening criteria.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Use early eligibility filters where appropriate.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Track screening conversion by source and recruite</a:t>
            </a:r>
            <a:r>
              <a:rPr dirty="0"/>
              <a:t>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Recruitment &amp; Hiring Funnel Analytics  |  3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BDA86E3-8BA0-1899-C690-62D0671E4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22" y="1557197"/>
            <a:ext cx="5718277" cy="38377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82A43"/>
                </a:solidFill>
                <a:latin typeface="Aptos"/>
              </a:rPr>
              <a:t>2. Source Quality Matters More Than Applicant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687"/>
            <a:ext cx="643483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>
                <a:solidFill>
                  <a:srgbClr val="696969"/>
                </a:solidFill>
                <a:latin typeface="Aptos"/>
              </a:rPr>
              <a:t>Employee Referral converts the strongest share of applicants into hires</a:t>
            </a:r>
            <a:r>
              <a:rPr sz="11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804672"/>
            <a:ext cx="4297680" cy="2532888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29500" y="924657"/>
            <a:ext cx="209454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82A43"/>
                </a:solidFill>
                <a:latin typeface="Aptos"/>
              </a:rPr>
              <a:t>What stands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0" y="1249582"/>
            <a:ext cx="422910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Employee Referral: 5.94% hire rate — highest in the dataset.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LinkedIn generates the most hires (103), but at 4.17% conversion.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Social Media has the lowest hire rate at 2.74%.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3602709"/>
            <a:ext cx="4297680" cy="2676073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29500" y="3667413"/>
            <a:ext cx="2760692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82A43"/>
                </a:solidFill>
                <a:latin typeface="Aptos"/>
              </a:rPr>
              <a:t>Recommended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0" y="4087154"/>
            <a:ext cx="4073652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lang="en-DE" sz="2000" dirty="0"/>
              <a:t>• </a:t>
            </a:r>
            <a:r>
              <a:rPr sz="2000" dirty="0"/>
              <a:t>Strengthen the employee referral program.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Assess recruitment agencies on both conversion and cost.</a:t>
            </a:r>
          </a:p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Avoid judging channels on applicant volume alone.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Recruitment &amp; Hiring Funnel Analytics  |  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8B5CEE-022C-7997-2C95-6F30D2A11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92" y="1197864"/>
            <a:ext cx="5851398" cy="40942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82A43"/>
                </a:solidFill>
                <a:latin typeface="Aptos"/>
              </a:rPr>
              <a:t>3. Where Are Hiring Time and Cost Highest?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85687"/>
            <a:ext cx="598676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 dirty="0">
                <a:solidFill>
                  <a:srgbClr val="696969"/>
                </a:solidFill>
                <a:latin typeface="Aptos"/>
              </a:rPr>
              <a:t>Use both speed and cost metrics to target process improvements.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5120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182A43"/>
                </a:solidFill>
                <a:latin typeface="Aptos"/>
              </a:rPr>
              <a:t>Average Time-to-Hire by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D2D2D"/>
                </a:solidFill>
                <a:latin typeface="Aptos"/>
              </a:rPr>
              <a:t>Human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572768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2D2D"/>
                </a:solidFill>
                <a:latin typeface="Aptos"/>
              </a:rPr>
              <a:t>34.48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600" y="1618488"/>
            <a:ext cx="765692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48256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D2D2D"/>
                </a:solidFill>
                <a:latin typeface="Aptos"/>
              </a:rPr>
              <a:t>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048256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2D2D"/>
                </a:solidFill>
                <a:latin typeface="Aptos"/>
              </a:rPr>
              <a:t>34.01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2093976"/>
            <a:ext cx="755255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23744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D2D2D"/>
                </a:solidFill>
                <a:latin typeface="Aptos"/>
              </a:rPr>
              <a:t>Customer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23744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2D2D"/>
                </a:solidFill>
                <a:latin typeface="Aptos"/>
              </a:rPr>
              <a:t>34.00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2569463"/>
            <a:ext cx="755033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999232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D2D2D"/>
                </a:solidFill>
                <a:latin typeface="Aptos"/>
              </a:rPr>
              <a:t>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999232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2D2D"/>
                </a:solidFill>
                <a:latin typeface="Aptos"/>
              </a:rPr>
              <a:t>33.33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3044952"/>
            <a:ext cx="740154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474720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D2D2D"/>
                </a:solidFill>
                <a:latin typeface="Aptos"/>
              </a:rPr>
              <a:t>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474720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2D2D"/>
                </a:solidFill>
                <a:latin typeface="Aptos"/>
              </a:rPr>
              <a:t>32.97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3520439"/>
            <a:ext cx="732160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950208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D2D2D"/>
                </a:solidFill>
                <a:latin typeface="Aptos"/>
              </a:rPr>
              <a:t>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950208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2D2D"/>
                </a:solidFill>
                <a:latin typeface="Aptos"/>
              </a:rPr>
              <a:t>32.00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3995928"/>
            <a:ext cx="710619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425696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D2D2D"/>
                </a:solidFill>
                <a:latin typeface="Aptos"/>
              </a:rPr>
              <a:t>Technology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425696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50" b="1">
                <a:solidFill>
                  <a:srgbClr val="2D2D2D"/>
                </a:solidFill>
                <a:latin typeface="Aptos"/>
              </a:rPr>
              <a:t>31.78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4471416"/>
            <a:ext cx="705733" cy="16459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94360" y="5074920"/>
            <a:ext cx="52120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5130897"/>
            <a:ext cx="145148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82A43"/>
                </a:solidFill>
                <a:latin typeface="Aptos"/>
              </a:rPr>
              <a:t>Key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" y="5414022"/>
            <a:ext cx="48920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HR is slowest at 34.48 days; Technology is fastest at 31.78 days.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5074919"/>
            <a:ext cx="5669280" cy="1188719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53912" y="5130897"/>
            <a:ext cx="158036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82A43"/>
                </a:solidFill>
                <a:latin typeface="Aptos"/>
              </a:rPr>
              <a:t>Cost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0488" y="5483887"/>
            <a:ext cx="537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D2D2D"/>
                </a:solidFill>
                <a:latin typeface="Aptos"/>
              </a:defRPr>
            </a:pPr>
            <a:r>
              <a:rPr sz="2000" dirty="0"/>
              <a:t>• Operations has the highest average cost per hire: €4,082.12</a:t>
            </a:r>
            <a:r>
              <a:rPr dirty="0"/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Recruitment &amp; Hiring Funnel Analytics  |  5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20CF9D-1D74-65EC-87F3-067602E0F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440" y="1124712"/>
            <a:ext cx="5158200" cy="3849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182A43"/>
                </a:solidFill>
                <a:latin typeface="Aptos"/>
              </a:rPr>
              <a:t>4. Recommended Actions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4909"/>
            <a:ext cx="804374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0" dirty="0">
                <a:solidFill>
                  <a:srgbClr val="696969"/>
                </a:solidFill>
                <a:latin typeface="Aptos"/>
              </a:rPr>
              <a:t>Focus on conversion, cost efficiency and repeatable recruiter practices</a:t>
            </a:r>
            <a:r>
              <a:rPr sz="1150" b="0" dirty="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3876"/>
            <a:ext cx="2708910" cy="2215134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27048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1E88E5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56616"/>
            <a:ext cx="24460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82A43"/>
                </a:solidFill>
                <a:latin typeface="Aptos"/>
              </a:rPr>
              <a:t>Improve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61764"/>
            <a:ext cx="275463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Aptos"/>
              </a:rPr>
              <a:t>Standardize initial screening criteria and measure screening conversion by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7549" y="1321308"/>
            <a:ext cx="2708909" cy="218770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8897" y="1501449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E88E5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833" y="1912929"/>
            <a:ext cx="237744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82A43"/>
                </a:solidFill>
                <a:latin typeface="Aptos"/>
              </a:rPr>
              <a:t>Prioritize quality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6412" y="2182130"/>
            <a:ext cx="267004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Aptos"/>
              </a:rPr>
              <a:t>Invest more deliberately in Employee Referral and evaluate agency cost-effectiveness.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26463" y="1321308"/>
            <a:ext cx="2670046" cy="2107692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879" y="1572768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E88E5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7122" y="1884773"/>
            <a:ext cx="2765408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182A43"/>
                </a:solidFill>
                <a:latin typeface="Aptos"/>
              </a:rPr>
              <a:t>Scale best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0694" y="2131548"/>
            <a:ext cx="2521458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D2D2D"/>
                </a:solidFill>
                <a:latin typeface="Aptos"/>
              </a:rPr>
              <a:t>Review Michael Wagner's practices and identify what can be standardized across the team.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" y="4303785"/>
            <a:ext cx="11064240" cy="1508760"/>
          </a:xfrm>
          <a:prstGeom prst="round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675" y="4375394"/>
            <a:ext cx="215963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Aptos"/>
              </a:rPr>
              <a:t>The key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629" y="4945514"/>
            <a:ext cx="1073826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The priority is not simply to attract more applicants — it is to improve the quality and conversion of candidates entering the funnel.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6850" y="5394847"/>
            <a:ext cx="790209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 dirty="0">
                <a:solidFill>
                  <a:srgbClr val="CDDEF0"/>
                </a:solidFill>
                <a:latin typeface="Aptos"/>
              </a:rPr>
              <a:t>Success measures: screening conversion • time-to-hire • cost per hire • source hire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0642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96969"/>
                </a:solidFill>
                <a:latin typeface="Aptos"/>
              </a:rPr>
              <a:t>Recruitment &amp; Hiring Funnel Analytics  |  6</a:t>
            </a:r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AE282B9B-86F9-E3A5-37CA-92C8CA41159F}"/>
              </a:ext>
            </a:extLst>
          </p:cNvPr>
          <p:cNvSpPr/>
          <p:nvPr/>
        </p:nvSpPr>
        <p:spPr>
          <a:xfrm>
            <a:off x="8696509" y="1305306"/>
            <a:ext cx="2870651" cy="2074181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654B0B-F718-2739-9DCE-EC430220FF6A}"/>
              </a:ext>
            </a:extLst>
          </p:cNvPr>
          <p:cNvSpPr txBox="1"/>
          <p:nvPr/>
        </p:nvSpPr>
        <p:spPr>
          <a:xfrm>
            <a:off x="8828958" y="1604709"/>
            <a:ext cx="45717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dirty="0">
                <a:solidFill>
                  <a:srgbClr val="1E88E5"/>
                </a:solidFill>
                <a:latin typeface="Aptos"/>
              </a:rPr>
              <a:t>0</a:t>
            </a:r>
            <a:r>
              <a:rPr lang="en-GB" sz="2000" b="1" dirty="0">
                <a:solidFill>
                  <a:srgbClr val="1E88E5"/>
                </a:solidFill>
                <a:latin typeface="Aptos"/>
              </a:rPr>
              <a:t>4</a:t>
            </a:r>
            <a:endParaRPr sz="2000" b="1" dirty="0">
              <a:solidFill>
                <a:srgbClr val="1E88E5"/>
              </a:solidFill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452C54-7E86-3695-CC4D-380E4F53DE99}"/>
              </a:ext>
            </a:extLst>
          </p:cNvPr>
          <p:cNvSpPr txBox="1"/>
          <p:nvPr/>
        </p:nvSpPr>
        <p:spPr>
          <a:xfrm>
            <a:off x="8691120" y="1912928"/>
            <a:ext cx="30436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1400" b="1" dirty="0">
                <a:solidFill>
                  <a:srgbClr val="182A43"/>
                </a:solidFill>
                <a:latin typeface="Aptos"/>
              </a:rPr>
              <a:t>Investigate high-cost departments</a:t>
            </a:r>
            <a:endParaRPr sz="1400" b="1" dirty="0">
              <a:solidFill>
                <a:srgbClr val="182A43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48A0B9-3498-8E22-8DA2-FDADCDDE34AB}"/>
              </a:ext>
            </a:extLst>
          </p:cNvPr>
          <p:cNvSpPr txBox="1"/>
          <p:nvPr/>
        </p:nvSpPr>
        <p:spPr>
          <a:xfrm>
            <a:off x="8760745" y="2136852"/>
            <a:ext cx="2521458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400" b="0" dirty="0">
                <a:solidFill>
                  <a:srgbClr val="2D2D2D"/>
                </a:solidFill>
                <a:latin typeface="Aptos"/>
              </a:rPr>
              <a:t>Audit sourcing efficiency and time-to-hire high cost in  depts. to reduce per-hire expenses.</a:t>
            </a:r>
            <a:endParaRPr sz="1400" b="0" dirty="0">
              <a:solidFill>
                <a:srgbClr val="2D2D2D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557</Words>
  <Application>Microsoft Office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Barbara Dixon</cp:lastModifiedBy>
  <cp:revision>8</cp:revision>
  <dcterms:created xsi:type="dcterms:W3CDTF">2013-01-27T09:14:16Z</dcterms:created>
  <dcterms:modified xsi:type="dcterms:W3CDTF">2026-08-25T12:25:43Z</dcterms:modified>
  <cp:category/>
</cp:coreProperties>
</file>